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1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500" b="0" i="0" u="none" strike="noStrike">
                <a:solidFill>
                  <a:srgbClr val="F2F5F7"/>
                </a:solidFill>
                <a:latin typeface="Cambria"/>
              </a:defRPr>
            </a:pPr>
            <a:r>
              <a:rPr sz="1500" b="0" i="0" u="none" strike="noStrike">
                <a:solidFill>
                  <a:srgbClr val="F2F5F7"/>
                </a:solidFill>
                <a:latin typeface="Cambria"/>
              </a:rPr>
              <a:t>Estimated runtime at 118 wpm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Runtime (minutes)</c:v>
                </c:pt>
              </c:strCache>
            </c:strRef>
          </c:tx>
          <c:spPr>
            <a:solidFill>
              <a:srgbClr val="E8C89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F2F5F7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Bakery Before Dawn</c:v>
                  </c:pt>
                  <c:pt idx="1">
                    <c:v>Rings of Saturn</c:v>
                  </c:pt>
                  <c:pt idx="2">
                    <c:v>Deep Ocean Trenches</c:v>
                  </c:pt>
                  <c:pt idx="3">
                    <c:v>Library of Alexandria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47.7</c:v>
                </c:pt>
                <c:pt idx="1">
                  <c:v>47.2</c:v>
                </c:pt>
                <c:pt idx="2">
                  <c:v>43.2</c:v>
                </c:pt>
                <c:pt idx="3">
                  <c:v>22.9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F2F5F7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93A6B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5"/>
          <c:min val="0"/>
        </c:scaling>
        <c:delete val="0"/>
        <c:axPos val="b"/>
        <c:majorGridlines>
          <c:spPr>
            <a:ln w="12700" cap="flat">
              <a:solidFill>
                <a:srgbClr val="22374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3A6B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system turns a topic into an upload-ready sleep narration plus every publishing artifact, with a validator standing between the work and the catalogue.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core inversion: the manifest generates the tracker, not the other way round.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371600"/>
            <a:ext cx="5669280" cy="5669280"/>
          </a:xfrm>
          <a:prstGeom prst="ellipse">
            <a:avLst/>
          </a:prstGeom>
          <a:solidFill>
            <a:srgbClr val="12283C"/>
          </a:solidFill>
          <a:ln/>
        </p:spPr>
      </p:sp>
      <p:sp>
        <p:nvSpPr>
          <p:cNvPr id="3" name="Shape 1"/>
          <p:cNvSpPr/>
          <p:nvPr/>
        </p:nvSpPr>
        <p:spPr>
          <a:xfrm>
            <a:off x="9966960" y="228600"/>
            <a:ext cx="2834640" cy="2834640"/>
          </a:xfrm>
          <a:prstGeom prst="ellipse">
            <a:avLst/>
          </a:prstGeom>
          <a:solidFill>
            <a:srgbClr val="1B3A54"/>
          </a:solidFill>
          <a:ln/>
        </p:spPr>
      </p:sp>
      <p:sp>
        <p:nvSpPr>
          <p:cNvPr id="4" name="Shape 2"/>
          <p:cNvSpPr/>
          <p:nvPr/>
        </p:nvSpPr>
        <p:spPr>
          <a:xfrm>
            <a:off x="10561320" y="822960"/>
            <a:ext cx="1645920" cy="1645920"/>
          </a:xfrm>
          <a:prstGeom prst="ellipse">
            <a:avLst/>
          </a:prstGeom>
          <a:solidFill>
            <a:srgbClr val="E8C89A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20574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8C8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LULLABLE  ·  PRODUCTION SYSTEM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22960" y="2514600"/>
            <a:ext cx="74980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200"/>
              </a:lnSpc>
              <a:buNone/>
            </a:pPr>
            <a:r>
              <a:rPr lang="en-US" sz="5200" b="1" dirty="0">
                <a:solidFill>
                  <a:srgbClr val="F2F5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an episode</a:t>
            </a:r>
            <a:endParaRPr lang="en-US" sz="5200" dirty="0"/>
          </a:p>
          <a:p>
            <a:pPr indent="0" marL="0">
              <a:lnSpc>
                <a:spcPts val="5200"/>
              </a:lnSpc>
              <a:buNone/>
            </a:pPr>
            <a:r>
              <a:rPr lang="en-US" sz="5200" b="1" dirty="0">
                <a:solidFill>
                  <a:srgbClr val="F2F5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gets made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822960" y="452628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A8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Define · Research · Write · Compile · Structure · Validate · Ship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502920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93A6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single manifest per story drives every downstream artifact.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93A6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Nothing ships that the validator has not measured.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C8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WE CHANGED IT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2F5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five copies of the truth to one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572768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3A6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same facts used to live in a spreadsheet, a YAML file, a TSV, a JSON record and several script variants. Manual sync always fails eventually.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286000"/>
            <a:ext cx="5349240" cy="2788920"/>
          </a:xfrm>
          <a:prstGeom prst="roundRect">
            <a:avLst>
              <a:gd name="adj" fmla="val 2951"/>
            </a:avLst>
          </a:prstGeom>
          <a:solidFill>
            <a:srgbClr val="1E2230"/>
          </a:solidFill>
          <a:ln w="12700">
            <a:solidFill>
              <a:srgbClr val="22374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25146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8B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60120" y="2907792"/>
            <a:ext cx="47548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D8DE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Typed into Excel by hand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D8DE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YAML built by a spreadsheet formula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D8DE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Quotes and newlines broke the output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D8DE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Dropdowns advisory — bad values passed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D8DE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"Ready" checked spelling, not reality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D8DE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 decided by accident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263640" y="2286000"/>
            <a:ext cx="5285232" cy="2788920"/>
          </a:xfrm>
          <a:prstGeom prst="roundRect">
            <a:avLst>
              <a:gd name="adj" fmla="val 2951"/>
            </a:avLst>
          </a:prstGeom>
          <a:solidFill>
            <a:srgbClr val="142C2A"/>
          </a:solidFill>
          <a:ln w="12700">
            <a:solidFill>
              <a:srgbClr val="22374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0" y="25146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FCF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NOW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583680" y="2907792"/>
            <a:ext cx="47091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D8DE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story.yaml per episode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D8DE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Everything else generated from it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D8DE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YAML emitted by a real parser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D8DE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Invalid values rejected outright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D8DE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 gates measure files, not typing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D8DE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decided deliberately, late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C8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PIPELINE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2F5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Seven stages, one direction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2331720"/>
            <a:ext cx="1461211" cy="2377440"/>
          </a:xfrm>
          <a:prstGeom prst="roundRect">
            <a:avLst>
              <a:gd name="adj" fmla="val 5632"/>
            </a:avLst>
          </a:prstGeom>
          <a:solidFill>
            <a:srgbClr val="152436"/>
          </a:solidFill>
          <a:ln w="12700">
            <a:solidFill>
              <a:srgbClr val="22374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60374" y="2542032"/>
            <a:ext cx="420624" cy="420624"/>
          </a:xfrm>
          <a:prstGeom prst="ellipse">
            <a:avLst/>
          </a:prstGeom>
          <a:solidFill>
            <a:srgbClr val="E8C89A"/>
          </a:solidFill>
          <a:ln/>
        </p:spPr>
      </p:sp>
      <p:sp>
        <p:nvSpPr>
          <p:cNvPr id="6" name="Text 4"/>
          <p:cNvSpPr/>
          <p:nvPr/>
        </p:nvSpPr>
        <p:spPr>
          <a:xfrm>
            <a:off x="1160374" y="254203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3127248"/>
            <a:ext cx="146121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2F5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Define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13232" y="3474720"/>
            <a:ext cx="1314907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93A6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Topic, pillar,</a:t>
            </a:r>
            <a:endParaRPr lang="en-US" sz="110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93A6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genre gap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083003" y="315468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3E54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2212848" y="2331720"/>
            <a:ext cx="1461211" cy="2377440"/>
          </a:xfrm>
          <a:prstGeom prst="roundRect">
            <a:avLst>
              <a:gd name="adj" fmla="val 5632"/>
            </a:avLst>
          </a:prstGeom>
          <a:solidFill>
            <a:srgbClr val="152436"/>
          </a:solidFill>
          <a:ln w="12700">
            <a:solidFill>
              <a:srgbClr val="22374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33142" y="2542032"/>
            <a:ext cx="420624" cy="420624"/>
          </a:xfrm>
          <a:prstGeom prst="ellipse">
            <a:avLst/>
          </a:prstGeom>
          <a:solidFill>
            <a:srgbClr val="E8C89A"/>
          </a:solidFill>
          <a:ln/>
        </p:spPr>
      </p:sp>
      <p:sp>
        <p:nvSpPr>
          <p:cNvPr id="12" name="Text 10"/>
          <p:cNvSpPr/>
          <p:nvPr/>
        </p:nvSpPr>
        <p:spPr>
          <a:xfrm>
            <a:off x="2733142" y="254203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212848" y="3127248"/>
            <a:ext cx="146121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2F5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2286000" y="3474720"/>
            <a:ext cx="1314907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93A6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 every</a:t>
            </a:r>
            <a:endParaRPr lang="en-US" sz="110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93A6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fact first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655771" y="315468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3E54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3785616" y="2331720"/>
            <a:ext cx="1461211" cy="2377440"/>
          </a:xfrm>
          <a:prstGeom prst="roundRect">
            <a:avLst>
              <a:gd name="adj" fmla="val 5632"/>
            </a:avLst>
          </a:prstGeom>
          <a:solidFill>
            <a:srgbClr val="152436"/>
          </a:solidFill>
          <a:ln w="12700">
            <a:solidFill>
              <a:srgbClr val="22374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305910" y="2542032"/>
            <a:ext cx="420624" cy="420624"/>
          </a:xfrm>
          <a:prstGeom prst="ellipse">
            <a:avLst/>
          </a:prstGeom>
          <a:solidFill>
            <a:srgbClr val="E8C89A"/>
          </a:solidFill>
          <a:ln/>
        </p:spPr>
      </p:sp>
      <p:sp>
        <p:nvSpPr>
          <p:cNvPr id="18" name="Text 16"/>
          <p:cNvSpPr/>
          <p:nvPr/>
        </p:nvSpPr>
        <p:spPr>
          <a:xfrm>
            <a:off x="4305910" y="254203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785616" y="3127248"/>
            <a:ext cx="146121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2F5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Write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3858768" y="3474720"/>
            <a:ext cx="1314907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93A6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House voice,</a:t>
            </a:r>
            <a:endParaRPr lang="en-US" sz="110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93A6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short sentences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228539" y="315468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3E54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5358384" y="2331720"/>
            <a:ext cx="1461211" cy="2377440"/>
          </a:xfrm>
          <a:prstGeom prst="roundRect">
            <a:avLst>
              <a:gd name="adj" fmla="val 5632"/>
            </a:avLst>
          </a:prstGeom>
          <a:solidFill>
            <a:srgbClr val="152436"/>
          </a:solidFill>
          <a:ln w="12700">
            <a:solidFill>
              <a:srgbClr val="22374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878678" y="2542032"/>
            <a:ext cx="420624" cy="420624"/>
          </a:xfrm>
          <a:prstGeom prst="ellipse">
            <a:avLst/>
          </a:prstGeom>
          <a:solidFill>
            <a:srgbClr val="E8C89A"/>
          </a:solidFill>
          <a:ln/>
        </p:spPr>
      </p:sp>
      <p:sp>
        <p:nvSpPr>
          <p:cNvPr id="24" name="Text 22"/>
          <p:cNvSpPr/>
          <p:nvPr/>
        </p:nvSpPr>
        <p:spPr>
          <a:xfrm>
            <a:off x="5878678" y="254203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358384" y="3127248"/>
            <a:ext cx="146121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2F5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Compile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5431536" y="3474720"/>
            <a:ext cx="1314907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93A6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Place ~1,100</a:t>
            </a:r>
            <a:endParaRPr lang="en-US" sz="110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93A6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pause tags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801307" y="315468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3E54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000" dirty="0"/>
          </a:p>
        </p:txBody>
      </p:sp>
      <p:sp>
        <p:nvSpPr>
          <p:cNvPr id="28" name="Shape 26"/>
          <p:cNvSpPr/>
          <p:nvPr/>
        </p:nvSpPr>
        <p:spPr>
          <a:xfrm>
            <a:off x="6931152" y="2331720"/>
            <a:ext cx="1461211" cy="2377440"/>
          </a:xfrm>
          <a:prstGeom prst="roundRect">
            <a:avLst>
              <a:gd name="adj" fmla="val 5632"/>
            </a:avLst>
          </a:prstGeom>
          <a:solidFill>
            <a:srgbClr val="152436"/>
          </a:solidFill>
          <a:ln w="12700">
            <a:solidFill>
              <a:srgbClr val="22374D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451446" y="2542032"/>
            <a:ext cx="420624" cy="420624"/>
          </a:xfrm>
          <a:prstGeom prst="ellipse">
            <a:avLst/>
          </a:prstGeom>
          <a:solidFill>
            <a:srgbClr val="E8C89A"/>
          </a:solidFill>
          <a:ln/>
        </p:spPr>
      </p:sp>
      <p:sp>
        <p:nvSpPr>
          <p:cNvPr id="30" name="Text 28"/>
          <p:cNvSpPr/>
          <p:nvPr/>
        </p:nvSpPr>
        <p:spPr>
          <a:xfrm>
            <a:off x="7451446" y="254203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931152" y="3127248"/>
            <a:ext cx="146121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2F5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Structure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7004304" y="3474720"/>
            <a:ext cx="1314907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93A6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Fill the</a:t>
            </a:r>
            <a:endParaRPr lang="en-US" sz="110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93A6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manifest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8374075" y="315468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3E54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000" dirty="0"/>
          </a:p>
        </p:txBody>
      </p:sp>
      <p:sp>
        <p:nvSpPr>
          <p:cNvPr id="34" name="Shape 32"/>
          <p:cNvSpPr/>
          <p:nvPr/>
        </p:nvSpPr>
        <p:spPr>
          <a:xfrm>
            <a:off x="8503920" y="2331720"/>
            <a:ext cx="1461211" cy="2377440"/>
          </a:xfrm>
          <a:prstGeom prst="roundRect">
            <a:avLst>
              <a:gd name="adj" fmla="val 5632"/>
            </a:avLst>
          </a:prstGeom>
          <a:solidFill>
            <a:srgbClr val="1E3348"/>
          </a:solidFill>
          <a:ln w="12700">
            <a:solidFill>
              <a:srgbClr val="22374D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024214" y="2542032"/>
            <a:ext cx="420624" cy="420624"/>
          </a:xfrm>
          <a:prstGeom prst="ellipse">
            <a:avLst/>
          </a:prstGeom>
          <a:solidFill>
            <a:srgbClr val="5FA8C4"/>
          </a:solidFill>
          <a:ln/>
        </p:spPr>
      </p:sp>
      <p:sp>
        <p:nvSpPr>
          <p:cNvPr id="36" name="Text 34"/>
          <p:cNvSpPr/>
          <p:nvPr/>
        </p:nvSpPr>
        <p:spPr>
          <a:xfrm>
            <a:off x="9024214" y="254203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8503920" y="3127248"/>
            <a:ext cx="146121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2F5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Validate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8577072" y="3474720"/>
            <a:ext cx="1314907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93A6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 gates</a:t>
            </a:r>
            <a:endParaRPr lang="en-US" sz="110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93A6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 it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9946843" y="315468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3E54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000" dirty="0"/>
          </a:p>
        </p:txBody>
      </p:sp>
      <p:sp>
        <p:nvSpPr>
          <p:cNvPr id="40" name="Shape 38"/>
          <p:cNvSpPr/>
          <p:nvPr/>
        </p:nvSpPr>
        <p:spPr>
          <a:xfrm>
            <a:off x="10076688" y="2331720"/>
            <a:ext cx="1461211" cy="2377440"/>
          </a:xfrm>
          <a:prstGeom prst="roundRect">
            <a:avLst>
              <a:gd name="adj" fmla="val 5632"/>
            </a:avLst>
          </a:prstGeom>
          <a:solidFill>
            <a:srgbClr val="14332C"/>
          </a:solidFill>
          <a:ln w="12700">
            <a:solidFill>
              <a:srgbClr val="22374D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0596982" y="2542032"/>
            <a:ext cx="420624" cy="420624"/>
          </a:xfrm>
          <a:prstGeom prst="ellipse">
            <a:avLst/>
          </a:prstGeom>
          <a:solidFill>
            <a:srgbClr val="6FCF97"/>
          </a:solidFill>
          <a:ln/>
        </p:spPr>
      </p:sp>
      <p:sp>
        <p:nvSpPr>
          <p:cNvPr id="42" name="Text 40"/>
          <p:cNvSpPr/>
          <p:nvPr/>
        </p:nvSpPr>
        <p:spPr>
          <a:xfrm>
            <a:off x="10596982" y="254203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10076688" y="3127248"/>
            <a:ext cx="146121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2F5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Ship</a:t>
            </a:r>
            <a:endParaRPr lang="en-US" sz="1500" dirty="0"/>
          </a:p>
        </p:txBody>
      </p:sp>
      <p:sp>
        <p:nvSpPr>
          <p:cNvPr id="44" name="Text 42"/>
          <p:cNvSpPr/>
          <p:nvPr/>
        </p:nvSpPr>
        <p:spPr>
          <a:xfrm>
            <a:off x="10149840" y="3474720"/>
            <a:ext cx="1314907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93A6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Render, QA,</a:t>
            </a:r>
            <a:endParaRPr lang="en-US" sz="110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93A6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Supabase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640080" y="507492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FA8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stage produces something the next one can check. Nothing is carried in someone's head.</a:t>
            </a:r>
            <a:endParaRPr lang="en-US" sz="1400" dirty="0"/>
          </a:p>
        </p:txBody>
      </p:sp>
      <p:sp>
        <p:nvSpPr>
          <p:cNvPr id="46" name="Shape 44"/>
          <p:cNvSpPr/>
          <p:nvPr/>
        </p:nvSpPr>
        <p:spPr>
          <a:xfrm>
            <a:off x="640080" y="5532120"/>
            <a:ext cx="10908792" cy="658368"/>
          </a:xfrm>
          <a:prstGeom prst="roundRect">
            <a:avLst>
              <a:gd name="adj" fmla="val 12500"/>
            </a:avLst>
          </a:prstGeom>
          <a:solidFill>
            <a:srgbClr val="14202E"/>
          </a:solidFill>
          <a:ln w="12700">
            <a:solidFill>
              <a:srgbClr val="22374D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914400" y="566928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6D2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 judgement lives in stages 1–3 and in QA sign-off. Everything between is mechanical and repeatable.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C8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1  ·  DEFINE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2F5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Pick the gap, not the whim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2148840"/>
            <a:ext cx="5532120" cy="3703320"/>
          </a:xfrm>
          <a:prstGeom prst="roundRect">
            <a:avLst>
              <a:gd name="adj" fmla="val 2222"/>
            </a:avLst>
          </a:prstGeom>
          <a:solidFill>
            <a:srgbClr val="152436"/>
          </a:solidFill>
          <a:ln w="12700">
            <a:solidFill>
              <a:srgbClr val="22374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23774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C8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gets decided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914400" y="2880360"/>
            <a:ext cx="146304" cy="146304"/>
          </a:xfrm>
          <a:prstGeom prst="ellipse">
            <a:avLst/>
          </a:prstGeom>
          <a:solidFill>
            <a:srgbClr val="5FA8C4"/>
          </a:solidFill>
          <a:ln/>
        </p:spPr>
      </p:sp>
      <p:sp>
        <p:nvSpPr>
          <p:cNvPr id="7" name="Text 5"/>
          <p:cNvSpPr/>
          <p:nvPr/>
        </p:nvSpPr>
        <p:spPr>
          <a:xfrm>
            <a:off x="1188720" y="279806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Topic &amp; pillar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188720" y="3072384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3A6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chosen against the catalogue's empty genres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914400" y="3630168"/>
            <a:ext cx="146304" cy="146304"/>
          </a:xfrm>
          <a:prstGeom prst="ellipse">
            <a:avLst/>
          </a:prstGeom>
          <a:solidFill>
            <a:srgbClr val="5FA8C4"/>
          </a:solidFill>
          <a:ln/>
        </p:spPr>
      </p:sp>
      <p:sp>
        <p:nvSpPr>
          <p:cNvPr id="10" name="Text 8"/>
          <p:cNvSpPr/>
          <p:nvPr/>
        </p:nvSpPr>
        <p:spPr>
          <a:xfrm>
            <a:off x="1188720" y="354787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runtime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188720" y="3822192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3A6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sets the word count before a line is written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914400" y="4379976"/>
            <a:ext cx="146304" cy="146304"/>
          </a:xfrm>
          <a:prstGeom prst="ellipse">
            <a:avLst/>
          </a:prstGeom>
          <a:solidFill>
            <a:srgbClr val="5FA8C4"/>
          </a:solidFill>
          <a:ln/>
        </p:spPr>
      </p:sp>
      <p:sp>
        <p:nvSpPr>
          <p:cNvPr id="13" name="Text 11"/>
          <p:cNvSpPr/>
          <p:nvPr/>
        </p:nvSpPr>
        <p:spPr>
          <a:xfrm>
            <a:off x="1188720" y="42976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Voice &amp; pace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188720" y="4572000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3A6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default ~118 wpm until a real render calibrates it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914400" y="5129784"/>
            <a:ext cx="146304" cy="146304"/>
          </a:xfrm>
          <a:prstGeom prst="ellipse">
            <a:avLst/>
          </a:prstGeom>
          <a:solidFill>
            <a:srgbClr val="5FA8C4"/>
          </a:solidFill>
          <a:ln/>
        </p:spPr>
      </p:sp>
      <p:sp>
        <p:nvSpPr>
          <p:cNvPr id="16" name="Text 14"/>
          <p:cNvSpPr/>
          <p:nvPr/>
        </p:nvSpPr>
        <p:spPr>
          <a:xfrm>
            <a:off x="1188720" y="504748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Genre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188720" y="5321808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3A6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of four; new ones need a decision, not a guess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446520" y="2148840"/>
            <a:ext cx="5102352" cy="3703320"/>
          </a:xfrm>
          <a:prstGeom prst="roundRect">
            <a:avLst>
              <a:gd name="adj" fmla="val 2222"/>
            </a:avLst>
          </a:prstGeom>
          <a:solidFill>
            <a:srgbClr val="11202F"/>
          </a:solidFill>
          <a:ln w="12700">
            <a:solidFill>
              <a:srgbClr val="22374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720840" y="23774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C8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four genres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6720840" y="2834640"/>
            <a:ext cx="182880" cy="502920"/>
          </a:xfrm>
          <a:prstGeom prst="roundRect">
            <a:avLst>
              <a:gd name="adj" fmla="val 30000"/>
            </a:avLst>
          </a:prstGeom>
          <a:solidFill>
            <a:srgbClr val="5FA8C4"/>
          </a:solidFill>
          <a:ln/>
        </p:spPr>
      </p:sp>
      <p:sp>
        <p:nvSpPr>
          <p:cNvPr id="21" name="Text 19"/>
          <p:cNvSpPr/>
          <p:nvPr/>
        </p:nvSpPr>
        <p:spPr>
          <a:xfrm>
            <a:off x="7059168" y="2816352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2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gentle-nature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7059168" y="3072384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3A6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 Ocean Trenches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720840" y="3547872"/>
            <a:ext cx="182880" cy="502920"/>
          </a:xfrm>
          <a:prstGeom prst="roundRect">
            <a:avLst>
              <a:gd name="adj" fmla="val 30000"/>
            </a:avLst>
          </a:prstGeom>
          <a:solidFill>
            <a:srgbClr val="D9A55C"/>
          </a:solidFill>
          <a:ln/>
        </p:spPr>
      </p:sp>
      <p:sp>
        <p:nvSpPr>
          <p:cNvPr id="24" name="Text 22"/>
          <p:cNvSpPr/>
          <p:nvPr/>
        </p:nvSpPr>
        <p:spPr>
          <a:xfrm>
            <a:off x="7059168" y="3529584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2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ancient-worlds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7059168" y="3785616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3A6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Great Library of Alexandria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720840" y="4261104"/>
            <a:ext cx="182880" cy="502920"/>
          </a:xfrm>
          <a:prstGeom prst="roundRect">
            <a:avLst>
              <a:gd name="adj" fmla="val 30000"/>
            </a:avLst>
          </a:prstGeom>
          <a:solidFill>
            <a:srgbClr val="A99BD6"/>
          </a:solidFill>
          <a:ln/>
        </p:spPr>
      </p:sp>
      <p:sp>
        <p:nvSpPr>
          <p:cNvPr id="27" name="Text 25"/>
          <p:cNvSpPr/>
          <p:nvPr/>
        </p:nvSpPr>
        <p:spPr>
          <a:xfrm>
            <a:off x="7059168" y="4242816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2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cosmic-journeys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7059168" y="4498848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3A6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Rings of Saturn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720840" y="4974336"/>
            <a:ext cx="182880" cy="502920"/>
          </a:xfrm>
          <a:prstGeom prst="roundRect">
            <a:avLst>
              <a:gd name="adj" fmla="val 30000"/>
            </a:avLst>
          </a:prstGeom>
          <a:solidFill>
            <a:srgbClr val="E3B778"/>
          </a:solidFill>
          <a:ln/>
        </p:spPr>
      </p:sp>
      <p:sp>
        <p:nvSpPr>
          <p:cNvPr id="30" name="Text 28"/>
          <p:cNvSpPr/>
          <p:nvPr/>
        </p:nvSpPr>
        <p:spPr>
          <a:xfrm>
            <a:off x="7059168" y="4956048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2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cozy-tales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7059168" y="5212080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3A6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Bakery Before Dawn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40080" y="63276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four genres are now covered — one episode each.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C8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2  ·  RESEARCH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2F5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Verify before drafting, never after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572768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3A6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factual body is the product. Real detail occupies the intellect without raising the pulse — and a wrong fact in a calm voice is still a wrong fact.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377440"/>
            <a:ext cx="3465576" cy="2148840"/>
          </a:xfrm>
          <a:prstGeom prst="roundRect">
            <a:avLst>
              <a:gd name="adj" fmla="val 3830"/>
            </a:avLst>
          </a:prstGeom>
          <a:solidFill>
            <a:srgbClr val="152436"/>
          </a:solidFill>
          <a:ln w="12700">
            <a:solidFill>
              <a:srgbClr val="22374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2651760"/>
            <a:ext cx="384048" cy="384048"/>
          </a:xfrm>
          <a:prstGeom prst="ellipse">
            <a:avLst/>
          </a:prstGeom>
          <a:solidFill>
            <a:srgbClr val="5FA8C4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651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3182112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F5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Search first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14400" y="3547872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93A6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number, name, mechanism and date is checked against sources before a line is drafted.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325112" y="2377440"/>
            <a:ext cx="3465576" cy="2148840"/>
          </a:xfrm>
          <a:prstGeom prst="roundRect">
            <a:avLst>
              <a:gd name="adj" fmla="val 3830"/>
            </a:avLst>
          </a:prstGeom>
          <a:solidFill>
            <a:srgbClr val="152436"/>
          </a:solidFill>
          <a:ln w="12700">
            <a:solidFill>
              <a:srgbClr val="22374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99432" y="2651760"/>
            <a:ext cx="384048" cy="384048"/>
          </a:xfrm>
          <a:prstGeom prst="ellipse">
            <a:avLst/>
          </a:prstGeom>
          <a:solidFill>
            <a:srgbClr val="5FA8C4"/>
          </a:solidFill>
          <a:ln/>
        </p:spPr>
      </p:sp>
      <p:sp>
        <p:nvSpPr>
          <p:cNvPr id="12" name="Text 10"/>
          <p:cNvSpPr/>
          <p:nvPr/>
        </p:nvSpPr>
        <p:spPr>
          <a:xfrm>
            <a:off x="4599432" y="2651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99432" y="3182112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F5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Say when it's unsettled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599432" y="3547872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93A6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science genuinely disagrees, the narration presents both calmly. An open question is restful.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010144" y="2377440"/>
            <a:ext cx="3465576" cy="2148840"/>
          </a:xfrm>
          <a:prstGeom prst="roundRect">
            <a:avLst>
              <a:gd name="adj" fmla="val 3830"/>
            </a:avLst>
          </a:prstGeom>
          <a:solidFill>
            <a:srgbClr val="152436"/>
          </a:solidFill>
          <a:ln w="12700">
            <a:solidFill>
              <a:srgbClr val="22374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284464" y="2651760"/>
            <a:ext cx="384048" cy="384048"/>
          </a:xfrm>
          <a:prstGeom prst="ellipse">
            <a:avLst/>
          </a:prstGeom>
          <a:solidFill>
            <a:srgbClr val="5FA8C4"/>
          </a:solidFill>
          <a:ln/>
        </p:spPr>
      </p:sp>
      <p:sp>
        <p:nvSpPr>
          <p:cNvPr id="17" name="Text 15"/>
          <p:cNvSpPr/>
          <p:nvPr/>
        </p:nvSpPr>
        <p:spPr>
          <a:xfrm>
            <a:off x="8284464" y="2651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284464" y="3182112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F5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Cite on delivery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284464" y="3547872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93A6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 are handed back with the episode, so any claim can be traced later.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40080" y="4773168"/>
            <a:ext cx="10908792" cy="1234440"/>
          </a:xfrm>
          <a:prstGeom prst="roundRect">
            <a:avLst>
              <a:gd name="adj" fmla="val 6667"/>
            </a:avLst>
          </a:prstGeom>
          <a:solidFill>
            <a:srgbClr val="1B2E42"/>
          </a:solidFill>
          <a:ln w="12700">
            <a:solidFill>
              <a:srgbClr val="22374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60120" y="49377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C8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Worked example — Saturn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60120" y="5230368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C6D2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changed the script. The rings' age is contested: Cassini's clean ice suggests 100–400 million years, newer modelling suggests they may be ancient and self-cleaning. The episode presents the disagreement rather than picking a side.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C8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3  ·  WRITE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2F5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house voice, in rules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6858000" cy="3749040"/>
          </a:xfrm>
          <a:prstGeom prst="roundRect">
            <a:avLst>
              <a:gd name="adj" fmla="val 2195"/>
            </a:avLst>
          </a:prstGeom>
          <a:solidFill>
            <a:srgbClr val="152436"/>
          </a:solidFill>
          <a:ln w="12700">
            <a:solidFill>
              <a:srgbClr val="22374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2331720"/>
            <a:ext cx="621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C8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arc — every episode, same shape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932688" y="2871216"/>
            <a:ext cx="128016" cy="128016"/>
          </a:xfrm>
          <a:prstGeom prst="ellipse">
            <a:avLst/>
          </a:prstGeom>
          <a:solidFill>
            <a:srgbClr val="5FA8C4"/>
          </a:solidFill>
          <a:ln/>
        </p:spPr>
      </p:sp>
      <p:sp>
        <p:nvSpPr>
          <p:cNvPr id="7" name="Shape 5"/>
          <p:cNvSpPr/>
          <p:nvPr/>
        </p:nvSpPr>
        <p:spPr>
          <a:xfrm>
            <a:off x="996696" y="2999232"/>
            <a:ext cx="0" cy="374904"/>
          </a:xfrm>
          <a:prstGeom prst="line">
            <a:avLst/>
          </a:prstGeom>
          <a:noFill/>
          <a:ln w="12700">
            <a:solidFill>
              <a:srgbClr val="2C445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34440" y="27889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Good evening.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0" y="27889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3A6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fixed opening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932688" y="3374136"/>
            <a:ext cx="128016" cy="128016"/>
          </a:xfrm>
          <a:prstGeom prst="ellipse">
            <a:avLst/>
          </a:prstGeom>
          <a:solidFill>
            <a:srgbClr val="5FA8C4"/>
          </a:solidFill>
          <a:ln/>
        </p:spPr>
      </p:sp>
      <p:sp>
        <p:nvSpPr>
          <p:cNvPr id="11" name="Shape 9"/>
          <p:cNvSpPr/>
          <p:nvPr/>
        </p:nvSpPr>
        <p:spPr>
          <a:xfrm>
            <a:off x="996696" y="3502152"/>
            <a:ext cx="0" cy="374904"/>
          </a:xfrm>
          <a:prstGeom prst="line">
            <a:avLst/>
          </a:prstGeom>
          <a:noFill/>
          <a:ln w="12700">
            <a:solidFill>
              <a:srgbClr val="2C445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34440" y="32918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Permission to drift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0" y="32918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3A6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"let it wander"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32688" y="3877056"/>
            <a:ext cx="128016" cy="128016"/>
          </a:xfrm>
          <a:prstGeom prst="ellipse">
            <a:avLst/>
          </a:prstGeom>
          <a:solidFill>
            <a:srgbClr val="5FA8C4"/>
          </a:solidFill>
          <a:ln/>
        </p:spPr>
      </p:sp>
      <p:sp>
        <p:nvSpPr>
          <p:cNvPr id="15" name="Shape 13"/>
          <p:cNvSpPr/>
          <p:nvPr/>
        </p:nvSpPr>
        <p:spPr>
          <a:xfrm>
            <a:off x="996696" y="4005072"/>
            <a:ext cx="0" cy="374904"/>
          </a:xfrm>
          <a:prstGeom prst="line">
            <a:avLst/>
          </a:prstGeom>
          <a:noFill/>
          <a:ln w="12700">
            <a:solidFill>
              <a:srgbClr val="2C445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34440" y="37947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Descent into the setting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72000" y="37947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3A6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slow, sensory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932688" y="4379976"/>
            <a:ext cx="128016" cy="128016"/>
          </a:xfrm>
          <a:prstGeom prst="ellipse">
            <a:avLst/>
          </a:prstGeom>
          <a:solidFill>
            <a:srgbClr val="E8C89A"/>
          </a:solidFill>
          <a:ln/>
        </p:spPr>
      </p:sp>
      <p:sp>
        <p:nvSpPr>
          <p:cNvPr id="19" name="Shape 17"/>
          <p:cNvSpPr/>
          <p:nvPr/>
        </p:nvSpPr>
        <p:spPr>
          <a:xfrm>
            <a:off x="996696" y="4507992"/>
            <a:ext cx="0" cy="374904"/>
          </a:xfrm>
          <a:prstGeom prst="line">
            <a:avLst/>
          </a:prstGeom>
          <a:noFill/>
          <a:ln w="12700">
            <a:solidFill>
              <a:srgbClr val="2C445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234440" y="42976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Dense but calm factual body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572000" y="42976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3A6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real mechanics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932688" y="4882896"/>
            <a:ext cx="128016" cy="128016"/>
          </a:xfrm>
          <a:prstGeom prst="ellipse">
            <a:avLst/>
          </a:prstGeom>
          <a:solidFill>
            <a:srgbClr val="5FA8C4"/>
          </a:solidFill>
          <a:ln/>
        </p:spPr>
      </p:sp>
      <p:sp>
        <p:nvSpPr>
          <p:cNvPr id="23" name="Shape 21"/>
          <p:cNvSpPr/>
          <p:nvPr/>
        </p:nvSpPr>
        <p:spPr>
          <a:xfrm>
            <a:off x="996696" y="5010912"/>
            <a:ext cx="0" cy="374904"/>
          </a:xfrm>
          <a:prstGeom prst="line">
            <a:avLst/>
          </a:prstGeom>
          <a:noFill/>
          <a:ln w="12700">
            <a:solidFill>
              <a:srgbClr val="2C445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234440" y="48006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 dissolve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572000" y="48006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3A6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everything let go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932688" y="5385816"/>
            <a:ext cx="128016" cy="128016"/>
          </a:xfrm>
          <a:prstGeom prst="ellipse">
            <a:avLst/>
          </a:prstGeom>
          <a:solidFill>
            <a:srgbClr val="5FA8C4"/>
          </a:solidFill>
          <a:ln/>
        </p:spPr>
      </p:sp>
      <p:sp>
        <p:nvSpPr>
          <p:cNvPr id="27" name="Text 25"/>
          <p:cNvSpPr/>
          <p:nvPr/>
        </p:nvSpPr>
        <p:spPr>
          <a:xfrm>
            <a:off x="1234440" y="53035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Sleep now. … Goodnight.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572000" y="5303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3A6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fixed close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7772400" y="2103120"/>
            <a:ext cx="3776472" cy="3749040"/>
          </a:xfrm>
          <a:prstGeom prst="roundRect">
            <a:avLst>
              <a:gd name="adj" fmla="val 2195"/>
            </a:avLst>
          </a:prstGeom>
          <a:solidFill>
            <a:srgbClr val="11202F"/>
          </a:solidFill>
          <a:ln w="12700">
            <a:solidFill>
              <a:srgbClr val="22374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046720" y="233172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C8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Non-negotiable</a:t>
            </a:r>
            <a:endParaRPr lang="en-US" sz="1700" dirty="0"/>
          </a:p>
        </p:txBody>
      </p:sp>
      <p:sp>
        <p:nvSpPr>
          <p:cNvPr id="31" name="Text 29"/>
          <p:cNvSpPr/>
          <p:nvPr/>
        </p:nvSpPr>
        <p:spPr>
          <a:xfrm>
            <a:off x="8046720" y="2788920"/>
            <a:ext cx="324612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C6D2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Short sentences — mean under 12 words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C6D2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conflict: no danger, no death emphasis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C6D2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Describe the experience — never promise sleep or treat a condition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C6D2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Sensory density: warmth, light, texture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C6D2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Never an exclamation mark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640080" y="63276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Extend a short draft by adding whole sections — never by lengthening sentences.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C8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4  ·  COMPILE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2F5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rhythm is placed by machine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572768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3A6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break tag roughly every 14 words, graded 1.0–3.0 seconds, 3.0s at every section seam. Never hand-placed.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331720"/>
            <a:ext cx="3520440" cy="1481328"/>
          </a:xfrm>
          <a:prstGeom prst="roundRect">
            <a:avLst>
              <a:gd name="adj" fmla="val 5556"/>
            </a:avLst>
          </a:prstGeom>
          <a:solidFill>
            <a:srgbClr val="152436"/>
          </a:solidFill>
          <a:ln w="12700">
            <a:solidFill>
              <a:srgbClr val="22374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51460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8C8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1,112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914400" y="324612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3A6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pause tags placed across four episodes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343400" y="2331720"/>
            <a:ext cx="3520440" cy="1481328"/>
          </a:xfrm>
          <a:prstGeom prst="roundRect">
            <a:avLst>
              <a:gd name="adj" fmla="val 5556"/>
            </a:avLst>
          </a:prstGeom>
          <a:solidFill>
            <a:srgbClr val="152436"/>
          </a:solidFill>
          <a:ln w="12700">
            <a:solidFill>
              <a:srgbClr val="22374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17720" y="251460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5FA8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32.7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4617720" y="324612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3A6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minutes of engineered silence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046720" y="2331720"/>
            <a:ext cx="3502152" cy="1481328"/>
          </a:xfrm>
          <a:prstGeom prst="roundRect">
            <a:avLst>
              <a:gd name="adj" fmla="val 5556"/>
            </a:avLst>
          </a:prstGeom>
          <a:solidFill>
            <a:srgbClr val="152436"/>
          </a:solidFill>
          <a:ln w="12700">
            <a:solidFill>
              <a:srgbClr val="22374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21040" y="251460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A99B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161</a:t>
            </a:r>
            <a:endParaRPr lang="en-US" sz="4400" dirty="0"/>
          </a:p>
        </p:txBody>
      </p:sp>
      <p:sp>
        <p:nvSpPr>
          <p:cNvPr id="13" name="Text 11"/>
          <p:cNvSpPr/>
          <p:nvPr/>
        </p:nvSpPr>
        <p:spPr>
          <a:xfrm>
            <a:off x="8321040" y="324612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3A6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minutes of finished narration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" y="4572000"/>
            <a:ext cx="10908792" cy="1508760"/>
          </a:xfrm>
          <a:prstGeom prst="roundRect">
            <a:avLst>
              <a:gd name="adj" fmla="val 5455"/>
            </a:avLst>
          </a:prstGeom>
          <a:solidFill>
            <a:srgbClr val="2A1C1C"/>
          </a:solidFill>
          <a:ln w="12700">
            <a:solidFill>
              <a:srgbClr val="22374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60120" y="473659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E88B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gate that refuses to write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960120" y="5029200"/>
            <a:ext cx="10241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E6D5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Above 15.0 words per break, the compiler writes nothing and prints the twelve longest sentences. Saturn first compiled at 16.0 — splitting 30 sentences brought it to 13.7 and made the episode LONGER, because more sentence breaks means more silence. Shorter sentences are not a cost.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C8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5  ·  STRUCTURE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2F5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file is true. Everything else is a copy.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2240280"/>
            <a:ext cx="3200400" cy="3200400"/>
          </a:xfrm>
          <a:prstGeom prst="roundRect">
            <a:avLst>
              <a:gd name="adj" fmla="val 2571"/>
            </a:avLst>
          </a:prstGeom>
          <a:solidFill>
            <a:srgbClr val="1E3348"/>
          </a:solidFill>
          <a:ln w="12700">
            <a:solidFill>
              <a:srgbClr val="22374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251460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E8C8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story.yaml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868680" y="2999232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b="1" spc="100" kern="0" dirty="0">
                <a:solidFill>
                  <a:srgbClr val="5FA8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ONLY FILE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b="1" spc="100" kern="0" dirty="0">
                <a:solidFill>
                  <a:srgbClr val="5FA8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ANYONE EDITS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68680" y="3657600"/>
            <a:ext cx="2743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C6D2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identity · workflow · access · card copy · script stats · rights · render · audio · QA · publish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977640" y="3611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3E54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4572000" y="2240280"/>
            <a:ext cx="6976872" cy="566928"/>
          </a:xfrm>
          <a:prstGeom prst="roundRect">
            <a:avLst>
              <a:gd name="adj" fmla="val 14516"/>
            </a:avLst>
          </a:prstGeom>
          <a:solidFill>
            <a:srgbClr val="152436"/>
          </a:solidFill>
          <a:ln w="12700">
            <a:solidFill>
              <a:srgbClr val="22374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46320" y="2304288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F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tracker-row.tsv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772400" y="2322576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3A6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line for the spreadsheet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572000" y="2898648"/>
            <a:ext cx="6976872" cy="566928"/>
          </a:xfrm>
          <a:prstGeom prst="roundRect">
            <a:avLst>
              <a:gd name="adj" fmla="val 14516"/>
            </a:avLst>
          </a:prstGeom>
          <a:solidFill>
            <a:srgbClr val="152436"/>
          </a:solidFill>
          <a:ln w="12700">
            <a:solidFill>
              <a:srgbClr val="22374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0" y="2962656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F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story-card.yaml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772400" y="2980944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3A6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app shows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572000" y="3557016"/>
            <a:ext cx="6976872" cy="566928"/>
          </a:xfrm>
          <a:prstGeom prst="roundRect">
            <a:avLst>
              <a:gd name="adj" fmla="val 14516"/>
            </a:avLst>
          </a:prstGeom>
          <a:solidFill>
            <a:srgbClr val="152436"/>
          </a:solidFill>
          <a:ln w="12700">
            <a:solidFill>
              <a:srgbClr val="22374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46320" y="3621024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F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catalog-payload.json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772400" y="363931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3A6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Supabase upsert body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572000" y="4215384"/>
            <a:ext cx="6976872" cy="566928"/>
          </a:xfrm>
          <a:prstGeom prst="roundRect">
            <a:avLst>
              <a:gd name="adj" fmla="val 14516"/>
            </a:avLst>
          </a:prstGeom>
          <a:solidFill>
            <a:srgbClr val="152436"/>
          </a:solidFill>
          <a:ln w="12700">
            <a:solidFill>
              <a:srgbClr val="22374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46320" y="4279392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F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neon-metadata.json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772400" y="429768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3A6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database record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572000" y="4873752"/>
            <a:ext cx="6976872" cy="566928"/>
          </a:xfrm>
          <a:prstGeom prst="roundRect">
            <a:avLst>
              <a:gd name="adj" fmla="val 14516"/>
            </a:avLst>
          </a:prstGeom>
          <a:solidFill>
            <a:srgbClr val="152436"/>
          </a:solidFill>
          <a:ln w="12700">
            <a:solidFill>
              <a:srgbClr val="22374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46320" y="493776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F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publish-commands.sh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772400" y="495604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3A6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commands that ship it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572000" y="557784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i="1" dirty="0">
                <a:solidFill>
                  <a:srgbClr val="5E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GENERATED — never edited by hand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40080" y="63276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YAML is emitted by a real parser, so quotes, colons and newlines in the copy can never break it.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C8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DELIBERATE SEPARATION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2F5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it is ≠ what it costs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572768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3A6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These used to be one field, which meant a story could drift into being premium before anyone decided that.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237744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FA8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workflowStatus  —  production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2761488"/>
            <a:ext cx="2103120" cy="658368"/>
          </a:xfrm>
          <a:prstGeom prst="roundRect">
            <a:avLst>
              <a:gd name="adj" fmla="val 12500"/>
            </a:avLst>
          </a:prstGeom>
          <a:solidFill>
            <a:srgbClr val="1E3348"/>
          </a:solidFill>
          <a:ln w="12700">
            <a:solidFill>
              <a:srgbClr val="22374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292608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8C8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draft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2688336" y="2926080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3E54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2843784" y="2761488"/>
            <a:ext cx="2103120" cy="658368"/>
          </a:xfrm>
          <a:prstGeom prst="roundRect">
            <a:avLst>
              <a:gd name="adj" fmla="val 12500"/>
            </a:avLst>
          </a:prstGeom>
          <a:solidFill>
            <a:srgbClr val="152436"/>
          </a:solidFill>
          <a:ln w="12700">
            <a:solidFill>
              <a:srgbClr val="22374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843784" y="292608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93A6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rendered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892040" y="2926080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3E54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5047488" y="2761488"/>
            <a:ext cx="2103120" cy="658368"/>
          </a:xfrm>
          <a:prstGeom prst="roundRect">
            <a:avLst>
              <a:gd name="adj" fmla="val 12500"/>
            </a:avLst>
          </a:prstGeom>
          <a:solidFill>
            <a:srgbClr val="152436"/>
          </a:solidFill>
          <a:ln w="12700">
            <a:solidFill>
              <a:srgbClr val="22374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47488" y="292608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93A6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qa-approved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7095744" y="2926080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3E54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7251192" y="2761488"/>
            <a:ext cx="2103120" cy="658368"/>
          </a:xfrm>
          <a:prstGeom prst="roundRect">
            <a:avLst>
              <a:gd name="adj" fmla="val 12500"/>
            </a:avLst>
          </a:prstGeom>
          <a:solidFill>
            <a:srgbClr val="152436"/>
          </a:solidFill>
          <a:ln w="12700">
            <a:solidFill>
              <a:srgbClr val="22374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251192" y="292608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93A6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staging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9299448" y="2926080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3E54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9454896" y="2761488"/>
            <a:ext cx="2103120" cy="658368"/>
          </a:xfrm>
          <a:prstGeom prst="roundRect">
            <a:avLst>
              <a:gd name="adj" fmla="val 12500"/>
            </a:avLst>
          </a:prstGeom>
          <a:solidFill>
            <a:srgbClr val="152436"/>
          </a:solidFill>
          <a:ln w="12700">
            <a:solidFill>
              <a:srgbClr val="22374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454896" y="292608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93A6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published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40080" y="374904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C8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accessDecision  —  commercial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40080" y="4133088"/>
            <a:ext cx="2103120" cy="658368"/>
          </a:xfrm>
          <a:prstGeom prst="roundRect">
            <a:avLst>
              <a:gd name="adj" fmla="val 12500"/>
            </a:avLst>
          </a:prstGeom>
          <a:solidFill>
            <a:srgbClr val="3A2E18"/>
          </a:solidFill>
          <a:ln w="12700">
            <a:solidFill>
              <a:srgbClr val="22374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429768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8C8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PENDING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2843784" y="4133088"/>
            <a:ext cx="2103120" cy="658368"/>
          </a:xfrm>
          <a:prstGeom prst="roundRect">
            <a:avLst>
              <a:gd name="adj" fmla="val 12500"/>
            </a:avLst>
          </a:prstGeom>
          <a:solidFill>
            <a:srgbClr val="152436"/>
          </a:solidFill>
          <a:ln w="12700">
            <a:solidFill>
              <a:srgbClr val="22374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843784" y="429768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93A6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5047488" y="4133088"/>
            <a:ext cx="2103120" cy="658368"/>
          </a:xfrm>
          <a:prstGeom prst="roundRect">
            <a:avLst>
              <a:gd name="adj" fmla="val 12500"/>
            </a:avLst>
          </a:prstGeom>
          <a:solidFill>
            <a:srgbClr val="152436"/>
          </a:solidFill>
          <a:ln w="12700">
            <a:solidFill>
              <a:srgbClr val="22374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47488" y="429768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93A6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premium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7315200" y="3749040"/>
            <a:ext cx="4233672" cy="1042416"/>
          </a:xfrm>
          <a:prstGeom prst="roundRect">
            <a:avLst>
              <a:gd name="adj" fmla="val 7895"/>
            </a:avLst>
          </a:prstGeom>
          <a:solidFill>
            <a:srgbClr val="14332C"/>
          </a:solidFill>
          <a:ln w="12700">
            <a:solidFill>
              <a:srgbClr val="22374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589520" y="3931920"/>
            <a:ext cx="3703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C8E0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four episodes sit at draft / PENDING today — honestly, because none has audio yet.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40080" y="5138928"/>
            <a:ext cx="10908792" cy="960120"/>
          </a:xfrm>
          <a:prstGeom prst="roundRect">
            <a:avLst>
              <a:gd name="adj" fmla="val 8571"/>
            </a:avLst>
          </a:prstGeom>
          <a:solidFill>
            <a:srgbClr val="1B2E42"/>
          </a:solidFill>
          <a:ln w="12700">
            <a:solidFill>
              <a:srgbClr val="22374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60120" y="5349240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6D2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access value the app sees stays PENDING until a story reaches staging AND a decision exists. Nothing can go live under a tier nobody chose.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C8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6  ·  VALIDATE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2F5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Seventeen gates that measure reality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2148840"/>
            <a:ext cx="1737360" cy="749808"/>
          </a:xfrm>
          <a:prstGeom prst="roundRect">
            <a:avLst>
              <a:gd name="adj" fmla="val 10976"/>
            </a:avLst>
          </a:prstGeom>
          <a:solidFill>
            <a:srgbClr val="152436"/>
          </a:solidFill>
          <a:ln w="12700">
            <a:solidFill>
              <a:srgbClr val="22374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2231136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C8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G01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49808" y="2478024"/>
            <a:ext cx="1536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C6D2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manifest schema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487168" y="2148840"/>
            <a:ext cx="1737360" cy="749808"/>
          </a:xfrm>
          <a:prstGeom prst="roundRect">
            <a:avLst>
              <a:gd name="adj" fmla="val 10976"/>
            </a:avLst>
          </a:prstGeom>
          <a:solidFill>
            <a:srgbClr val="152436"/>
          </a:solidFill>
          <a:ln w="12700">
            <a:solidFill>
              <a:srgbClr val="22374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96896" y="2231136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C8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G02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596896" y="2478024"/>
            <a:ext cx="1536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C6D2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story identity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334256" y="2148840"/>
            <a:ext cx="1737360" cy="749808"/>
          </a:xfrm>
          <a:prstGeom prst="roundRect">
            <a:avLst>
              <a:gd name="adj" fmla="val 10976"/>
            </a:avLst>
          </a:prstGeom>
          <a:solidFill>
            <a:srgbClr val="152436"/>
          </a:solidFill>
          <a:ln w="12700">
            <a:solidFill>
              <a:srgbClr val="22374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43984" y="2231136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C8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G03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443984" y="2478024"/>
            <a:ext cx="1536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C6D2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allowed values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181344" y="2148840"/>
            <a:ext cx="1737360" cy="749808"/>
          </a:xfrm>
          <a:prstGeom prst="roundRect">
            <a:avLst>
              <a:gd name="adj" fmla="val 10976"/>
            </a:avLst>
          </a:prstGeom>
          <a:solidFill>
            <a:srgbClr val="152436"/>
          </a:solidFill>
          <a:ln w="12700">
            <a:solidFill>
              <a:srgbClr val="22374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91072" y="2231136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C8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G04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291072" y="2478024"/>
            <a:ext cx="1536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C6D2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copy lengths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028432" y="2148840"/>
            <a:ext cx="1737360" cy="749808"/>
          </a:xfrm>
          <a:prstGeom prst="roundRect">
            <a:avLst>
              <a:gd name="adj" fmla="val 10976"/>
            </a:avLst>
          </a:prstGeom>
          <a:solidFill>
            <a:srgbClr val="152436"/>
          </a:solidFill>
          <a:ln w="12700">
            <a:solidFill>
              <a:srgbClr val="22374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138160" y="2231136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C8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G05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138160" y="2478024"/>
            <a:ext cx="1536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C6D2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artwork colours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9875520" y="2148840"/>
            <a:ext cx="1737360" cy="749808"/>
          </a:xfrm>
          <a:prstGeom prst="roundRect">
            <a:avLst>
              <a:gd name="adj" fmla="val 10976"/>
            </a:avLst>
          </a:prstGeom>
          <a:solidFill>
            <a:srgbClr val="152436"/>
          </a:solidFill>
          <a:ln w="12700">
            <a:solidFill>
              <a:srgbClr val="22374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985248" y="2231136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C8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G06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9985248" y="2478024"/>
            <a:ext cx="1536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C6D2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ISO-8601 date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40080" y="3017520"/>
            <a:ext cx="1737360" cy="749808"/>
          </a:xfrm>
          <a:prstGeom prst="roundRect">
            <a:avLst>
              <a:gd name="adj" fmla="val 10976"/>
            </a:avLst>
          </a:prstGeom>
          <a:solidFill>
            <a:srgbClr val="152436"/>
          </a:solidFill>
          <a:ln w="12700">
            <a:solidFill>
              <a:srgbClr val="22374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49808" y="3099816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C8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G07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49808" y="3346704"/>
            <a:ext cx="1536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C6D2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placeholders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2487168" y="3017520"/>
            <a:ext cx="1737360" cy="749808"/>
          </a:xfrm>
          <a:prstGeom prst="roundRect">
            <a:avLst>
              <a:gd name="adj" fmla="val 10976"/>
            </a:avLst>
          </a:prstGeom>
          <a:solidFill>
            <a:srgbClr val="152436"/>
          </a:solidFill>
          <a:ln w="12700">
            <a:solidFill>
              <a:srgbClr val="22374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596896" y="3099816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C8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G08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2596896" y="3346704"/>
            <a:ext cx="1536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C6D2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files on disk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334256" y="3017520"/>
            <a:ext cx="1737360" cy="749808"/>
          </a:xfrm>
          <a:prstGeom prst="roundRect">
            <a:avLst>
              <a:gd name="adj" fmla="val 10976"/>
            </a:avLst>
          </a:prstGeom>
          <a:solidFill>
            <a:srgbClr val="152436"/>
          </a:solidFill>
          <a:ln w="12700">
            <a:solidFill>
              <a:srgbClr val="22374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443984" y="3099816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C8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G09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443984" y="3346704"/>
            <a:ext cx="1536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C6D2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sha256 checksums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6181344" y="3017520"/>
            <a:ext cx="1737360" cy="749808"/>
          </a:xfrm>
          <a:prstGeom prst="roundRect">
            <a:avLst>
              <a:gd name="adj" fmla="val 10976"/>
            </a:avLst>
          </a:prstGeom>
          <a:solidFill>
            <a:srgbClr val="152436"/>
          </a:solidFill>
          <a:ln w="12700">
            <a:solidFill>
              <a:srgbClr val="22374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291072" y="3099816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C8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G10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291072" y="3346704"/>
            <a:ext cx="1536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C6D2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delivery encoding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8028432" y="3017520"/>
            <a:ext cx="1737360" cy="749808"/>
          </a:xfrm>
          <a:prstGeom prst="roundRect">
            <a:avLst>
              <a:gd name="adj" fmla="val 10976"/>
            </a:avLst>
          </a:prstGeom>
          <a:solidFill>
            <a:srgbClr val="152436"/>
          </a:solidFill>
          <a:ln w="12700">
            <a:solidFill>
              <a:srgbClr val="22374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138160" y="3099816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C8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G11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8138160" y="3346704"/>
            <a:ext cx="1536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C6D2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duration match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9875520" y="3017520"/>
            <a:ext cx="1737360" cy="749808"/>
          </a:xfrm>
          <a:prstGeom prst="roundRect">
            <a:avLst>
              <a:gd name="adj" fmla="val 10976"/>
            </a:avLst>
          </a:prstGeom>
          <a:solidFill>
            <a:srgbClr val="152436"/>
          </a:solidFill>
          <a:ln w="12700">
            <a:solidFill>
              <a:srgbClr val="22374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985248" y="3099816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C8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G12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9985248" y="3346704"/>
            <a:ext cx="1536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C6D2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render manifest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640080" y="3886200"/>
            <a:ext cx="1737360" cy="749808"/>
          </a:xfrm>
          <a:prstGeom prst="roundRect">
            <a:avLst>
              <a:gd name="adj" fmla="val 10976"/>
            </a:avLst>
          </a:prstGeom>
          <a:solidFill>
            <a:srgbClr val="152436"/>
          </a:solidFill>
          <a:ln w="12700">
            <a:solidFill>
              <a:srgbClr val="22374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49808" y="3968496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C8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G13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749808" y="4215384"/>
            <a:ext cx="1536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C6D2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QA + device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2487168" y="3886200"/>
            <a:ext cx="1737360" cy="749808"/>
          </a:xfrm>
          <a:prstGeom prst="roundRect">
            <a:avLst>
              <a:gd name="adj" fmla="val 10976"/>
            </a:avLst>
          </a:prstGeom>
          <a:solidFill>
            <a:srgbClr val="152436"/>
          </a:solidFill>
          <a:ln w="12700">
            <a:solidFill>
              <a:srgbClr val="22374D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596896" y="3968496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C8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G14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2596896" y="4215384"/>
            <a:ext cx="1536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C6D2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Supabase + catalog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4334256" y="3886200"/>
            <a:ext cx="1737360" cy="749808"/>
          </a:xfrm>
          <a:prstGeom prst="roundRect">
            <a:avLst>
              <a:gd name="adj" fmla="val 10976"/>
            </a:avLst>
          </a:prstGeom>
          <a:solidFill>
            <a:srgbClr val="152436"/>
          </a:solidFill>
          <a:ln w="12700">
            <a:solidFill>
              <a:srgbClr val="22374D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443984" y="3968496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C8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G15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4443984" y="4215384"/>
            <a:ext cx="1536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C6D2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rights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6181344" y="3886200"/>
            <a:ext cx="1737360" cy="749808"/>
          </a:xfrm>
          <a:prstGeom prst="roundRect">
            <a:avLst>
              <a:gd name="adj" fmla="val 10976"/>
            </a:avLst>
          </a:prstGeom>
          <a:solidFill>
            <a:srgbClr val="152436"/>
          </a:solidFill>
          <a:ln w="12700">
            <a:solidFill>
              <a:srgbClr val="22374D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291072" y="3968496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C8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G16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6291072" y="4215384"/>
            <a:ext cx="1536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C6D2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 decided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8028432" y="3886200"/>
            <a:ext cx="1737360" cy="749808"/>
          </a:xfrm>
          <a:prstGeom prst="roundRect">
            <a:avLst>
              <a:gd name="adj" fmla="val 10976"/>
            </a:avLst>
          </a:prstGeom>
          <a:solidFill>
            <a:srgbClr val="152436"/>
          </a:solidFill>
          <a:ln w="12700">
            <a:solidFill>
              <a:srgbClr val="22374D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8138160" y="3968496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C8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G17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8138160" y="4215384"/>
            <a:ext cx="1536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C6D2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SSML integrity</a:t>
            </a:r>
            <a:endParaRPr lang="en-US" sz="1050" dirty="0"/>
          </a:p>
        </p:txBody>
      </p:sp>
      <p:sp>
        <p:nvSpPr>
          <p:cNvPr id="55" name="Shape 53"/>
          <p:cNvSpPr/>
          <p:nvPr/>
        </p:nvSpPr>
        <p:spPr>
          <a:xfrm>
            <a:off x="640080" y="4846320"/>
            <a:ext cx="5349240" cy="1234440"/>
          </a:xfrm>
          <a:prstGeom prst="roundRect">
            <a:avLst>
              <a:gd name="adj" fmla="val 6667"/>
            </a:avLst>
          </a:prstGeom>
          <a:solidFill>
            <a:srgbClr val="1E3348"/>
          </a:solidFill>
          <a:ln w="12700">
            <a:solidFill>
              <a:srgbClr val="22374D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914400" y="501091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FA8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Staged, not all-or-nothing</a:t>
            </a:r>
            <a:endParaRPr lang="en-US" sz="1250" dirty="0"/>
          </a:p>
        </p:txBody>
      </p:sp>
      <p:sp>
        <p:nvSpPr>
          <p:cNvPr id="57" name="Text 55"/>
          <p:cNvSpPr/>
          <p:nvPr/>
        </p:nvSpPr>
        <p:spPr>
          <a:xfrm>
            <a:off x="914400" y="530352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C6D2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stage requires a subset. A fresh episode legitimately fails the audio gates — there is no audio yet.</a:t>
            </a:r>
            <a:endParaRPr lang="en-US" sz="1200" dirty="0"/>
          </a:p>
        </p:txBody>
      </p:sp>
      <p:sp>
        <p:nvSpPr>
          <p:cNvPr id="58" name="Shape 56"/>
          <p:cNvSpPr/>
          <p:nvPr/>
        </p:nvSpPr>
        <p:spPr>
          <a:xfrm>
            <a:off x="6199632" y="4846320"/>
            <a:ext cx="5349240" cy="1234440"/>
          </a:xfrm>
          <a:prstGeom prst="roundRect">
            <a:avLst>
              <a:gd name="adj" fmla="val 6667"/>
            </a:avLst>
          </a:prstGeom>
          <a:solidFill>
            <a:srgbClr val="14332C"/>
          </a:solidFill>
          <a:ln w="12700">
            <a:solidFill>
              <a:srgbClr val="22374D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473952" y="501091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6FCF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checks files, not typing</a:t>
            </a:r>
            <a:endParaRPr lang="en-US" sz="1250" dirty="0"/>
          </a:p>
        </p:txBody>
      </p:sp>
      <p:sp>
        <p:nvSpPr>
          <p:cNvPr id="60" name="Text 58"/>
          <p:cNvSpPr/>
          <p:nvPr/>
        </p:nvSpPr>
        <p:spPr>
          <a:xfrm>
            <a:off x="6473952" y="530352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C8E0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G09 hashes the actual bytes. G10 runs ffprobe. G11 compares the card against the measured audio.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C8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PROOF, NOT ASSERTION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2F5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broke it on purpose, ten times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572768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3A6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synthetic story with a real WAV master and a real AAC-LC delivery passed all seventeen. Then each fault was introduced deliberately.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395728"/>
            <a:ext cx="10908792" cy="429768"/>
          </a:xfrm>
          <a:prstGeom prst="roundRect">
            <a:avLst>
              <a:gd name="adj" fmla="val 10638"/>
            </a:avLst>
          </a:prstGeom>
          <a:solidFill>
            <a:srgbClr val="131F2C"/>
          </a:solidFill>
          <a:ln w="12700">
            <a:solidFill>
              <a:srgbClr val="131F2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46888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8DE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byte flipped in delivery.m4a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6035040" y="246888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8B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G09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949440" y="246888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93A6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caught — checksum mismatch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914400" y="2953512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8DE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card says 2640s, audio is 12s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035040" y="295351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8B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G11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949440" y="2953512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93A6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caught — 2628s apart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" y="3364992"/>
            <a:ext cx="10908792" cy="429768"/>
          </a:xfrm>
          <a:prstGeom prst="roundRect">
            <a:avLst>
              <a:gd name="adj" fmla="val 10638"/>
            </a:avLst>
          </a:prstGeom>
          <a:solidFill>
            <a:srgbClr val="131F2C"/>
          </a:solidFill>
          <a:ln w="12700">
            <a:solidFill>
              <a:srgbClr val="131F2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3438144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8DE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render model set to eleven_v3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035040" y="3438144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8B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G12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949440" y="3438144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93A6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caught — not a v2-family model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914400" y="3922776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8DE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re-encoded 48 kHz stereo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035040" y="3922776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8B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G10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949440" y="3922776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93A6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caught — wrong rate and channels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40080" y="4334256"/>
            <a:ext cx="10908792" cy="429768"/>
          </a:xfrm>
          <a:prstGeom prst="roundRect">
            <a:avLst>
              <a:gd name="adj" fmla="val 10638"/>
            </a:avLst>
          </a:prstGeom>
          <a:solidFill>
            <a:srgbClr val="131F2C"/>
          </a:solidFill>
          <a:ln w="12700">
            <a:solidFill>
              <a:srgbClr val="131F2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" y="440740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8DE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publishedAt written as a bare date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035040" y="440740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8B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G06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6949440" y="4407408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93A6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caught — not ISO-8601 UTC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914400" y="489204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8DE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genre typed as made-up-genre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6035040" y="489204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8B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G03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6949440" y="489204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93A6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caught — not an allowed value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40080" y="5303520"/>
            <a:ext cx="10908792" cy="429768"/>
          </a:xfrm>
          <a:prstGeom prst="roundRect">
            <a:avLst>
              <a:gd name="adj" fmla="val 10638"/>
            </a:avLst>
          </a:prstGeom>
          <a:solidFill>
            <a:srgbClr val="131F2C"/>
          </a:solidFill>
          <a:ln w="12700">
            <a:solidFill>
              <a:srgbClr val="131F2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4400" y="5376672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8DE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device acceptance revoked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6035040" y="537667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8B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G13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6949440" y="5376672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93A6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caught — no physical sign-off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914400" y="5861304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8DE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master.wav deleted from disk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6035040" y="5861304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8B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G08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6949440" y="5861304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93A6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caught — missing file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640080" y="63276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 mutations, ten catches. Two further faults — a PENDING access tier and an un-upserted catalog row — were caught the same way.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C8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IT STANDS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2F5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episodes written, none rendered</a:t>
            </a:r>
            <a:endParaRPr lang="en-US" sz="3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40080" y="2148840"/>
          <a:ext cx="658368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452360" y="2148840"/>
            <a:ext cx="4096512" cy="822960"/>
          </a:xfrm>
          <a:prstGeom prst="roundRect">
            <a:avLst>
              <a:gd name="adj" fmla="val 10000"/>
            </a:avLst>
          </a:prstGeom>
          <a:solidFill>
            <a:srgbClr val="152436"/>
          </a:solidFill>
          <a:ln w="12700">
            <a:solidFill>
              <a:srgbClr val="22374D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726680" y="2258568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C8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15,130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9509760" y="242316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3A6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words written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7452360" y="3081528"/>
            <a:ext cx="4096512" cy="822960"/>
          </a:xfrm>
          <a:prstGeom prst="roundRect">
            <a:avLst>
              <a:gd name="adj" fmla="val 10000"/>
            </a:avLst>
          </a:prstGeom>
          <a:solidFill>
            <a:srgbClr val="152436"/>
          </a:solidFill>
          <a:ln w="12700">
            <a:solidFill>
              <a:srgbClr val="22374D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726680" y="3191256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C8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1,112</a:t>
            </a:r>
            <a:endParaRPr lang="en-US" sz="2600" dirty="0"/>
          </a:p>
        </p:txBody>
      </p:sp>
      <p:sp>
        <p:nvSpPr>
          <p:cNvPr id="10" name="Text 7"/>
          <p:cNvSpPr/>
          <p:nvPr/>
        </p:nvSpPr>
        <p:spPr>
          <a:xfrm>
            <a:off x="9509760" y="335584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3A6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pause tags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452360" y="4014216"/>
            <a:ext cx="4096512" cy="822960"/>
          </a:xfrm>
          <a:prstGeom prst="roundRect">
            <a:avLst>
              <a:gd name="adj" fmla="val 10000"/>
            </a:avLst>
          </a:prstGeom>
          <a:solidFill>
            <a:srgbClr val="152436"/>
          </a:solidFill>
          <a:ln w="12700">
            <a:solidFill>
              <a:srgbClr val="22374D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726680" y="4123944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C8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/ 4</a:t>
            </a:r>
            <a:endParaRPr lang="en-US" sz="2600" dirty="0"/>
          </a:p>
        </p:txBody>
      </p:sp>
      <p:sp>
        <p:nvSpPr>
          <p:cNvPr id="13" name="Text 10"/>
          <p:cNvSpPr/>
          <p:nvPr/>
        </p:nvSpPr>
        <p:spPr>
          <a:xfrm>
            <a:off x="9509760" y="4288536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3A6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genres covered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7452360" y="4946904"/>
            <a:ext cx="4096512" cy="822960"/>
          </a:xfrm>
          <a:prstGeom prst="roundRect">
            <a:avLst>
              <a:gd name="adj" fmla="val 10000"/>
            </a:avLst>
          </a:prstGeom>
          <a:solidFill>
            <a:srgbClr val="2A1C1C"/>
          </a:solidFill>
          <a:ln w="12700">
            <a:solidFill>
              <a:srgbClr val="22374D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726680" y="5056632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8B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2600" dirty="0"/>
          </a:p>
        </p:txBody>
      </p:sp>
      <p:sp>
        <p:nvSpPr>
          <p:cNvPr id="16" name="Text 13"/>
          <p:cNvSpPr/>
          <p:nvPr/>
        </p:nvSpPr>
        <p:spPr>
          <a:xfrm>
            <a:off x="9509760" y="5221224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3A6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the catalogue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640080" y="63276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Alexandria is the short one — 23 minutes against three near 45. A format question still to settle.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C8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7  ·  SHIP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2F5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things stand between here and live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2240280"/>
            <a:ext cx="10908792" cy="1133856"/>
          </a:xfrm>
          <a:prstGeom prst="roundRect">
            <a:avLst>
              <a:gd name="adj" fmla="val 7258"/>
            </a:avLst>
          </a:prstGeom>
          <a:solidFill>
            <a:srgbClr val="152436"/>
          </a:solidFill>
          <a:ln w="12700">
            <a:solidFill>
              <a:srgbClr val="22374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0120" y="2587752"/>
            <a:ext cx="438912" cy="438912"/>
          </a:xfrm>
          <a:prstGeom prst="ellipse">
            <a:avLst/>
          </a:prstGeom>
          <a:solidFill>
            <a:srgbClr val="E8C89A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258775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627632" y="2404872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2F5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Assign a voice and render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627632" y="2770632"/>
            <a:ext cx="9601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93A6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scripts are finished and none has audio. This is the single bottleneck — everything downstream waits on it.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3538728"/>
            <a:ext cx="10908792" cy="1133856"/>
          </a:xfrm>
          <a:prstGeom prst="roundRect">
            <a:avLst>
              <a:gd name="adj" fmla="val 7258"/>
            </a:avLst>
          </a:prstGeom>
          <a:solidFill>
            <a:srgbClr val="152436"/>
          </a:solidFill>
          <a:ln w="12700">
            <a:solidFill>
              <a:srgbClr val="22374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60120" y="3886200"/>
            <a:ext cx="438912" cy="438912"/>
          </a:xfrm>
          <a:prstGeom prst="ellipse">
            <a:avLst/>
          </a:prstGeom>
          <a:solidFill>
            <a:srgbClr val="5FA8C4"/>
          </a:solidFill>
          <a:ln/>
        </p:spPr>
      </p:sp>
      <p:sp>
        <p:nvSpPr>
          <p:cNvPr id="11" name="Text 9"/>
          <p:cNvSpPr/>
          <p:nvPr/>
        </p:nvSpPr>
        <p:spPr>
          <a:xfrm>
            <a:off x="960120" y="38862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627632" y="370332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2F5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Settle Saturn's identity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627632" y="4069080"/>
            <a:ext cx="9601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93A6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app already carries a card called edge-of-saturn. If this replaces it, reuse that ID so favorites and progress survive. Blocked on purpose until decided.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" y="4837176"/>
            <a:ext cx="10908792" cy="1133856"/>
          </a:xfrm>
          <a:prstGeom prst="roundRect">
            <a:avLst>
              <a:gd name="adj" fmla="val 7258"/>
            </a:avLst>
          </a:prstGeom>
          <a:solidFill>
            <a:srgbClr val="152436"/>
          </a:solidFill>
          <a:ln w="12700">
            <a:solidFill>
              <a:srgbClr val="22374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60120" y="5184648"/>
            <a:ext cx="438912" cy="438912"/>
          </a:xfrm>
          <a:prstGeom prst="ellipse">
            <a:avLst/>
          </a:prstGeom>
          <a:solidFill>
            <a:srgbClr val="A99BD6"/>
          </a:solidFill>
          <a:ln/>
        </p:spPr>
      </p:sp>
      <p:sp>
        <p:nvSpPr>
          <p:cNvPr id="16" name="Text 14"/>
          <p:cNvSpPr/>
          <p:nvPr/>
        </p:nvSpPr>
        <p:spPr>
          <a:xfrm>
            <a:off x="960120" y="518464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627632" y="5001768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2F5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Carry four fields through Supabase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627632" y="5367528"/>
            <a:ext cx="9601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93A6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bedtimeNote, bestFor, sleepPace and atmosphere exist on the phone but not in the hosted catalog. One tested migration.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40080" y="63276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validator already knows all three — they appear as failing gates, not as things to remember.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11680" y="3108960"/>
            <a:ext cx="6858000" cy="6858000"/>
          </a:xfrm>
          <a:prstGeom prst="ellipse">
            <a:avLst/>
          </a:prstGeom>
          <a:solidFill>
            <a:srgbClr val="12283C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4663440"/>
            <a:ext cx="2377440" cy="2377440"/>
          </a:xfrm>
          <a:prstGeom prst="ellipse">
            <a:avLst/>
          </a:prstGeom>
          <a:solidFill>
            <a:srgbClr val="E8C89A"/>
          </a:solidFill>
          <a:ln/>
        </p:spPr>
      </p:sp>
      <p:sp>
        <p:nvSpPr>
          <p:cNvPr id="4" name="Text 2"/>
          <p:cNvSpPr/>
          <p:nvPr/>
        </p:nvSpPr>
        <p:spPr>
          <a:xfrm>
            <a:off x="4480560" y="1463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8C8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POINT OF ALL THIS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480560" y="1965960"/>
            <a:ext cx="72237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2F5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story cannot</a:t>
            </a:r>
            <a:endParaRPr lang="en-US" sz="4000" dirty="0"/>
          </a:p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2F5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reach a listener</a:t>
            </a:r>
            <a:endParaRPr lang="en-US" sz="4000" dirty="0"/>
          </a:p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2F5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by accident.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4480560" y="4206240"/>
            <a:ext cx="7178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93A6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precedes writing. Cadence is enforced, not hoped for. One manifest generates every artifact. Seventeen gates measure real files before anything ships — and each one names its own fix.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480560" y="5440680"/>
            <a:ext cx="7178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i="1" dirty="0">
                <a:solidFill>
                  <a:srgbClr val="5FA8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Next: assign a voice, render, and watch the gates go green.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How Lullable Makes an Episode</dc:title>
  <dc:subject>PptxGenJS Presentation</dc:subject>
  <dc:creator>Lullable</dc:creator>
  <cp:lastModifiedBy>Lullable</cp:lastModifiedBy>
  <cp:revision>1</cp:revision>
  <dcterms:created xsi:type="dcterms:W3CDTF">2026-08-14T03:00:09Z</dcterms:created>
  <dcterms:modified xsi:type="dcterms:W3CDTF">2026-08-14T03:00:09Z</dcterms:modified>
</cp:coreProperties>
</file>